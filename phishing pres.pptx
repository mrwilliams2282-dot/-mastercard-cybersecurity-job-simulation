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fonts/Font_6_Raleway_Italic.fntdata" ContentType="application/x-fontdata"/>
  <Override PartName="/ppt/fonts/Font_7_Raleway_BoldItalic.fntdata" ContentType="application/x-fontdata"/>
  <Override PartName="/ppt/fonts/Font_5_Raleway_Bold.fntdata" ContentType="application/x-fontdata"/>
  <Override PartName="/ppt/fonts/Font_3_Lato_BoldItalic.fntdata" ContentType="application/x-fontdata"/>
  <Override PartName="/ppt/fonts/Font_1_Lato_Bold.fntdata" ContentType="application/x-fontdata"/>
  <Override PartName="/ppt/fonts/Font_2_Lato_Italic.fntdata" ContentType="application/x-fontdata"/>
  <Override PartName="/ppt/fonts/Font_4_Raleway_Regular.fntdata" ContentType="application/x-fontdata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5" r:id="rId3"/>
    <p:sldMasterId id="2147483659" r:id="rId4"/>
  </p:sldMasterIdLst>
  <p:sldIdLst>
    <p:sldId id="256" r:id="rId5"/>
    <p:sldId id="257" r:id="rId6"/>
    <p:sldId id="258" r:id="rId7"/>
    <p:sldId id="259" r:id="rId8"/>
  </p:sldIdLst>
  <p:sldSz cx="9144000" cy="5143500"/>
  <p:notesSz cx="6858000" cy="9144000"/>
  <p:embeddedFontLst>
    <p:embeddedFont>
      <p:font typeface="Lato"/>
      <p:bold r:id="rId9"/>
      <p:italic r:id="rId10"/>
      <p:boldItalic r:id="rId11"/>
    </p:embeddedFont>
    <p:embeddedFont>
      <p:font typeface="Raleway"/>
      <p:regular r:id="rId12"/>
      <p:bold r:id="rId13"/>
      <p:italic r:id="rId14"/>
      <p:boldItalic r:id="rId15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font" Target="fonts/Font_1_Lato_Bold.fntdata"/><Relationship Id="rId10" Type="http://schemas.openxmlformats.org/officeDocument/2006/relationships/font" Target="fonts/Font_2_Lato_Italic.fntdata"/><Relationship Id="rId11" Type="http://schemas.openxmlformats.org/officeDocument/2006/relationships/font" Target="fonts/Font_3_Lato_BoldItalic.fntdata"/><Relationship Id="rId12" Type="http://schemas.openxmlformats.org/officeDocument/2006/relationships/font" Target="fonts/Font_4_Raleway_Regular.fntdata"/><Relationship Id="rId13" Type="http://schemas.openxmlformats.org/officeDocument/2006/relationships/font" Target="fonts/Font_5_Raleway_Bold.fntdata"/><Relationship Id="rId14" Type="http://schemas.openxmlformats.org/officeDocument/2006/relationships/font" Target="fonts/Font_6_Raleway_Italic.fntdata"/><Relationship Id="rId15" Type="http://schemas.openxmlformats.org/officeDocument/2006/relationships/font" Target="fonts/Font_7_Raleway_BoldItalic.fntdata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" name="Google Shape;12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DBD69C-FDA5-4379-A80E-BC68447C99B0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4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" name="Google Shape;25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3" name="Google Shape;26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27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3493AB-5D1A-4F99-9878-C7FD69C19279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2;p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" name="Google Shape;33;p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30" name="Google Shape;34;p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Google Shape;35;p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377388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3640" y="2079000"/>
            <a:ext cx="377388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FA5148-C617-4E70-A0DC-9980FBE00D3D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1;p6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Google Shape;42;p6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38" name="Google Shape;43;p6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44;p6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2BBBFC-6EC0-461D-80AA-2AAB26348DB4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8;p7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" name="Google Shape;49;p7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4" name="Google Shape;50;p7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51;p7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38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21080" y="2781720"/>
            <a:ext cx="3300480" cy="159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F810A2-692B-4B9A-BD09-A7B723F06423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62;p9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5" name="Google Shape;63;p9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56" name="Google Shape;64;p9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Google Shape;65;p9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8D7AF2-5CEA-4CFE-B7BD-4C61883DC3D6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74;p11"/>
          <p:cNvGrpSpPr/>
          <p:nvPr/>
        </p:nvGrpSpPr>
        <p:grpSpPr>
          <a:xfrm>
            <a:off x="530280" y="4183560"/>
            <a:ext cx="1342800" cy="17280"/>
            <a:chOff x="530280" y="4183560"/>
            <a:chExt cx="1342800" cy="17280"/>
          </a:xfrm>
        </p:grpSpPr>
        <p:sp>
          <p:nvSpPr>
            <p:cNvPr id="10" name="Google Shape;75;p11"/>
            <p:cNvSpPr/>
            <p:nvPr/>
          </p:nvSpPr>
          <p:spPr>
            <a:xfrm rot="162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Google Shape;76;p11"/>
            <p:cNvSpPr/>
            <p:nvPr/>
          </p:nvSpPr>
          <p:spPr>
            <a:xfrm rot="162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9360" y="734040"/>
            <a:ext cx="7688160" cy="12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</a:pPr>
            <a:r>
              <a:rPr b="1" lang="en-US" sz="80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9360" y="2273040"/>
            <a:ext cx="7688160" cy="158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847B0F-75D4-471A-845A-A529832EDABE}" type="slidenum">
              <a:rPr b="0" lang="en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8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7" name="Google Shape;19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20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4D14C9-E97E-4974-B6FD-9DAEE93F1F2B}" type="slidenum">
              <a:rPr b="0" lang="en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56;p8"/>
          <p:cNvGrpSpPr/>
          <p:nvPr/>
        </p:nvGrpSpPr>
        <p:grpSpPr>
          <a:xfrm>
            <a:off x="530280" y="4183560"/>
            <a:ext cx="1342800" cy="17280"/>
            <a:chOff x="530280" y="4183560"/>
            <a:chExt cx="1342800" cy="17280"/>
          </a:xfrm>
        </p:grpSpPr>
        <p:sp>
          <p:nvSpPr>
            <p:cNvPr id="50" name="Google Shape;57;p8"/>
            <p:cNvSpPr/>
            <p:nvPr/>
          </p:nvSpPr>
          <p:spPr>
            <a:xfrm rot="162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58;p8"/>
            <p:cNvSpPr/>
            <p:nvPr/>
          </p:nvSpPr>
          <p:spPr>
            <a:xfrm rot="162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9360" y="864360"/>
            <a:ext cx="7020720" cy="29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20BF5A-1CA3-4CCC-877A-E14CD30ACBA3}" type="slidenum">
              <a:rPr b="0" lang="en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E24375-31D6-4DA1-86AC-5E2A66BF708D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body"/>
          </p:nvPr>
        </p:nvSpPr>
        <p:spPr>
          <a:xfrm>
            <a:off x="725040" y="4372560"/>
            <a:ext cx="7697160" cy="4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48308A-C2D0-4894-9F45-589883A17696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2"/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057400" y="1371600"/>
            <a:ext cx="8260560" cy="205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80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Familiarize yourself with phishing attacks</a:t>
            </a:r>
            <a:br>
              <a:rPr sz="2930"/>
            </a:br>
            <a:r>
              <a:rPr b="1" lang="en" sz="9600" strike="noStrike" u="none">
                <a:solidFill>
                  <a:schemeClr val="dk2"/>
                </a:solidFill>
                <a:effectLst/>
                <a:highlight>
                  <a:srgbClr val="ffff00"/>
                </a:highlight>
                <a:uFillTx/>
                <a:latin typeface="Raleway"/>
                <a:ea typeface="Raleway"/>
              </a:rPr>
              <a:t>IT</a:t>
            </a:r>
            <a:br>
              <a:rPr sz="9600"/>
            </a:br>
            <a:r>
              <a:rPr b="1" lang="en" sz="9600" strike="noStrike" u="none">
                <a:solidFill>
                  <a:schemeClr val="dk2"/>
                </a:solidFill>
                <a:effectLst/>
                <a:highlight>
                  <a:srgbClr val="ffff00"/>
                </a:highlight>
                <a:uFillTx/>
                <a:latin typeface="Raleway"/>
                <a:ea typeface="Raleway"/>
              </a:rPr>
              <a:t>80%</a:t>
            </a:r>
            <a:br>
              <a:rPr sz="9600"/>
            </a:br>
            <a:r>
              <a:rPr b="1" lang="en" sz="9600" strike="noStrike" u="none">
                <a:solidFill>
                  <a:schemeClr val="dk2"/>
                </a:solidFill>
                <a:effectLst/>
                <a:highlight>
                  <a:srgbClr val="ffff00"/>
                </a:highlight>
                <a:uFillTx/>
                <a:latin typeface="Raleway"/>
                <a:ea typeface="Raleway"/>
              </a:rPr>
              <a:t> </a:t>
            </a:r>
            <a:br>
              <a:rPr sz="9600"/>
            </a:br>
            <a:r>
              <a:rPr b="1" lang="en" sz="9600" strike="noStrike" u="none">
                <a:solidFill>
                  <a:schemeClr val="dk2"/>
                </a:solidFill>
                <a:effectLst/>
                <a:highlight>
                  <a:srgbClr val="ffff00"/>
                </a:highlight>
                <a:uFillTx/>
                <a:latin typeface="Raleway"/>
                <a:ea typeface="Raleway"/>
              </a:rPr>
              <a:t> </a:t>
            </a:r>
            <a:br>
              <a:rPr sz="9600"/>
            </a:br>
            <a:r>
              <a:rPr b="1" lang="en" sz="9600" strike="noStrike" u="none">
                <a:solidFill>
                  <a:schemeClr val="dk2"/>
                </a:solidFill>
                <a:effectLst/>
                <a:highlight>
                  <a:srgbClr val="ffff00"/>
                </a:highlight>
                <a:uFillTx/>
                <a:latin typeface="Raleway"/>
                <a:ea typeface="Raleway"/>
              </a:rPr>
              <a:t>HR</a:t>
            </a:r>
            <a:br>
              <a:rPr sz="9600"/>
            </a:br>
            <a:r>
              <a:rPr b="1" lang="en" sz="9600" strike="noStrike" u="none">
                <a:solidFill>
                  <a:schemeClr val="dk2"/>
                </a:solidFill>
                <a:effectLst/>
                <a:highlight>
                  <a:srgbClr val="ffff00"/>
                </a:highlight>
                <a:uFillTx/>
                <a:latin typeface="Raleway"/>
                <a:ea typeface="Raleway"/>
              </a:rPr>
              <a:t>100%</a:t>
            </a:r>
            <a:br>
              <a:rPr sz="7200"/>
            </a:br>
            <a:br>
              <a:rPr sz="2600"/>
            </a:br>
            <a:endParaRPr b="0" lang="en-US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47160" y="160452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What is phishing?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14400" y="212832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5000" lnSpcReduction="19999"/>
          </a:bodyPr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1. What Is Phishing?Think of phishing as the digital equivalent of a con artist knocking on your door pretending to be your bank, a delivery driver, or your boss. Instead of breaking a physical lock, these attackers send fraudulent emails, text messages, or chat notifications designed to manipulate you into making a dangerous choice. NordLayer +42. The Core Tactics: The "4 P's" of PhishingAttackers try to bypass rational thought by triggering an immediate emotional response. Watch out for these four psychological traps</a:t>
            </a:r>
            <a:r>
              <a:rPr b="0" lang="en" sz="1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: 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Pretend: Impersonating a trusted entity (like IT support, the HR department, Microsoft, or a familiar vendor).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Problem: Creating a fake scenario, such as "Your account is locked" or "Your payment was declined".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Pressure: Forcing urgency (e.g., "Act in 24 hours or lose access") to make you skip normal security checks.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Pay: Directing you to click a malicious link to log into a fake website (stealing your password) or opening a malicious attachment (installing ransomware). 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3. Different Angles of AttackWhile some phishing campaigns are random mass emails sent to millions, attackers often do their homework. Employees should be aware of these common variants: </a:t>
            </a: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National Cyber Security Centre +1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S</a:t>
            </a: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pear Phishing: Highly personalized, targeted attacks that use your specific job role, name, or current projects to make the message highly believable.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Whaling: Highly targeted attacks focused specifically on executives or high-level staff to authorize large payments or access deep corporate data.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Smishing &amp; Vishing: Phishing attempts that occur via SMS text messages or phone calls rather than email. </a:t>
            </a: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Proton +4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4. Why Your Company's Data Is at StakeIf an attacker successfully tricks a single employee, the consequences can be massive. A stolen password or a downloaded virus can allow criminals to access company networks, steal sensitive customer data, lock critical computer systems, or initiate fraudulent wire transfers. </a:t>
            </a: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CISA (.gov) +15. What Employees Should Look ForEmpower your team to always "slow down and verify" by watching for the following red flags: </a:t>
            </a: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www.provinet.com +3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Mismatched Sender Domains: Don't just read the display name. Check the actual email address to see if it is misspelled or uses an unusual domain (e.g., support@microsoft-security.com instead of support@microsoft.com).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Suspicious Links: Hover over (but don't click) a link to preview the URL. Check for misspellings or weird extensions.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Unexpected Attachments: Never open an unexpected file or invoice, even if it appears to come from someone you know.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Requests for Credentials: Legitimate services will rarely ask you to log into their platform via a link sent to your email. </a:t>
            </a: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National Institute of Standards and Technology (.gov) +5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6. What to Do If You Spot a PhishRather than panicking or deleting the email, employees should know exactly what the company protocol is.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Do not click links, download attachments, or reply to the sender.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Verify independently by contacting the sender or the supposed organization through a known, trusted method (e.g., calling a verified phone number).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Report the threat using your company's dedicated email reporting button or by alerting the IT/security department immediately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5000" lnSpcReduction="19999"/>
          </a:bodyPr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T</a:t>
            </a: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he Anatomies of a Fake Mastercard Email1. The "Security Alert" and False Urgency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The Tactic: The email claims your "Mastercard credit or debit card has been locked" or "unusual activity was detected" to trigger panic.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The Deception: Scammers create this urgency so you act quickly without verifying the message. Real banks give you time to resolve issues safely. </a:t>
            </a: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Federal Trade Commission (.gov) +3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2. The Fake Login Button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The Tactic: A giant, red button reading "Verify Account Now" or "Unlock Card."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The Deception: Hovering your mouse over the link (without clicking) reveals the true destination. Instead of mastercard.com, it will route you to a spoofed domain (e.g., mastercard-security-verify.com) designed to steal your credentials. </a:t>
            </a: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Imperva +3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3. The Masked Sender Address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The Tactic: The display name shows "Mastercard Fraud Department."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The Deception: Scammers spoof the visible name, but checking the actual email address—like [email protected] or a generic Gmail domain—gives them away instantly. </a:t>
            </a: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Huntress +4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How to Protect Yourself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Never Click Links: Do not click unsolicited links or download attachments in unexpected emails. Type the official mastercard.com URL into your browser directly or use your saved bookmarks.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Check With Your Bank: If you are actually concerned about your card, call the official customer service number on the back of your physical card instead of relying on email contact details. 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Learn to spot phishing emails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How do we stop getting phished?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5000" lnSpcReduction="19999"/>
          </a:bodyPr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Activate</a:t>
            </a: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 Technical Defenses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Enable MFA: Turn on Multi-Factor Authentication (MFA) on every single account. Choose authenticator apps or security keys over SMS codes.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Use Passkeys: Switch to passkeys or a dedicated password manager. These tools will not auto-fill your credentials on a fake phishing website.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Deploy Security Filters: Turn on anti-phishing filters in your email provider (like Gmail or Outlook) and use a browser protection extension.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Keep Software Updated: Enable automatic updates on your phone, computer, and browsers to patch the security flaws that hackers exploit. 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🧠 Practice Behavioral Habits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Verify via Secondary Channels: If an email claims your card is locked, close the message. Call the number on the back of your physical card instead.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Inspect the Full URL: Never click a link to log in. Check the address bar to ensure the domain matches the official company site exactly.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Stop on Urgency: Treat any message demanding "immediate action," "24-hour deadlines," or threatening "account suspension" as a scam.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Sanitize Downloads: Never open email attachments with extensions like .exe, .scr, .zip, or .vbs from unverified or unexpected senders. 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🛑 If You Already Clicked a Link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Disconnect the Device: Turn off your Wi-Fi immediately to stop malware from sending your data back to the attacker's server.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Change Passwords Fast: Log into the real website from a different, secure device and change your password immediately.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Freeze Your Credit: Contact your bank to lock your cards and alert credit bureaus if you exposed financial or personal data. 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000" strike="noStrike" u="none">
                <a:solidFill>
                  <a:schemeClr val="accent1"/>
                </a:solidFill>
                <a:effectLst/>
                <a:highlight>
                  <a:srgbClr val="ffff00"/>
                </a:highlight>
                <a:uFillTx/>
                <a:latin typeface="Lato"/>
                <a:ea typeface="Lato"/>
              </a:rPr>
              <a:t>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2026-05-21T12:56:56Z</dcterms:modified>
  <cp:revision>1</cp:revision>
  <dc:subject/>
  <dc:title/>
</cp:coreProperties>
</file>